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A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89720" y="45720"/>
            <a:ext cx="2926080" cy="2926080"/>
          </a:xfrm>
          <a:prstGeom prst="ellipse">
            <a:avLst/>
          </a:prstGeom>
          <a:solidFill>
            <a:srgbClr val="17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58400" y="4754880"/>
            <a:ext cx="1920240" cy="1920240"/>
          </a:xfrm>
          <a:prstGeom prst="ellipse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9808" y="603504"/>
            <a:ext cx="2331720" cy="292608"/>
          </a:xfrm>
          <a:prstGeom prst="roundRect">
            <a:avLst>
              <a:gd name="adj" fmla="val 12000"/>
            </a:avLst>
          </a:prstGeom>
          <a:solidFill>
            <a:srgbClr val="17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635508"/>
            <a:ext cx="2185415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62D8CF"/>
                </a:solidFill>
                <a:latin typeface="Aptos"/>
              </a:rPr>
              <a:t>MACHINE LEARNING  •  MINI-PROJECT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225296"/>
            <a:ext cx="5669280" cy="1499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ptos Display"/>
              </a:rPr>
              <a:t>HOUSEHOLD ANIMALS
CLASSIFICATION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852928"/>
            <a:ext cx="539496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B9C7D9"/>
                </a:solidFill>
                <a:latin typeface="Aptos"/>
              </a:rPr>
              <a:t>A comparative study of CNN training, regularization, transfer learning and fine-tuning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3977639"/>
            <a:ext cx="5394960" cy="1078992"/>
          </a:xfrm>
          <a:prstGeom prst="roundRect">
            <a:avLst>
              <a:gd name="adj" fmla="val 12000"/>
            </a:avLst>
          </a:prstGeom>
          <a:solidFill>
            <a:srgbClr val="172A45"/>
          </a:solidFill>
          <a:ln w="10160">
            <a:solidFill>
              <a:srgbClr val="30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4178808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ptos"/>
              </a:rPr>
              <a:t>ANISH A KUNDER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4489704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B9C7D9"/>
                </a:solidFill>
                <a:latin typeface="Aptos"/>
              </a:rPr>
              <a:t>PES1UG24AM343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520440" y="4160520"/>
            <a:ext cx="0" cy="704088"/>
          </a:xfrm>
          <a:prstGeom prst="line">
            <a:avLst/>
          </a:prstGeom>
          <a:ln w="10160">
            <a:solidFill>
              <a:srgbClr val="405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767328" y="4178808"/>
            <a:ext cx="208483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ptos"/>
              </a:rPr>
              <a:t>ADARSHA 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67328" y="4489704"/>
            <a:ext cx="208483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B9C7D9"/>
                </a:solidFill>
                <a:latin typeface="Aptos"/>
              </a:rPr>
              <a:t>PES1UG24AM334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10528" y="1005840"/>
            <a:ext cx="4983480" cy="4041648"/>
          </a:xfrm>
          <a:prstGeom prst="roundRect">
            <a:avLst>
              <a:gd name="adj" fmla="val 12000"/>
            </a:avLst>
          </a:prstGeom>
          <a:solidFill>
            <a:srgbClr val="192B44"/>
          </a:solidFill>
          <a:ln w="12700">
            <a:solidFill>
              <a:srgbClr val="30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training_samples.png"/>
          <p:cNvPicPr>
            <a:picLocks noChangeAspect="1"/>
          </p:cNvPicPr>
          <p:nvPr/>
        </p:nvPicPr>
        <p:blipFill>
          <a:blip r:embed="rId2"/>
          <a:srcRect l="3170" r="3170"/>
          <a:stretch>
            <a:fillRect/>
          </a:stretch>
        </p:blipFill>
        <p:spPr>
          <a:xfrm>
            <a:off x="6638544" y="1133856"/>
            <a:ext cx="4727448" cy="378561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3680" y="5239512"/>
            <a:ext cx="4937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62D8CF"/>
                </a:solidFill>
                <a:latin typeface="Aptos"/>
              </a:rPr>
              <a:t>CAT (0)  /  DOG (1)  •  KAGGLE DATASET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5989320"/>
            <a:ext cx="5669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8294AA"/>
                </a:solidFill>
                <a:latin typeface="Aptos"/>
              </a:rPr>
              <a:t>UE24CS352A  |  PES UNIVERSITY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66928" y="6473952"/>
            <a:ext cx="11064240" cy="0"/>
          </a:xfrm>
          <a:prstGeom prst="line">
            <a:avLst/>
          </a:prstGeom>
          <a:ln w="8890">
            <a:solidFill>
              <a:srgbClr val="3042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94360" y="6537960"/>
            <a:ext cx="77724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51627B"/>
                </a:solidFill>
                <a:latin typeface="Aptos"/>
              </a:rPr>
              <a:t>UE24CS352A  •  MACHINE LEARNING MINI-PROJECT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45952" y="6519672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51627B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20040"/>
            <a:ext cx="1645920" cy="292608"/>
          </a:xfrm>
          <a:prstGeom prst="roundRect">
            <a:avLst>
              <a:gd name="adj" fmla="val 12000"/>
            </a:avLst>
          </a:prstGeom>
          <a:solidFill>
            <a:srgbClr val="E1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52044"/>
            <a:ext cx="1499616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B7D79"/>
                </a:solidFill>
                <a:latin typeface="Aptos"/>
              </a:rPr>
              <a:t>01 /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10185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A2B42"/>
                </a:solidFill>
                <a:latin typeface="Aptos Display"/>
              </a:rPr>
              <a:t>A binary classifier — and a controlled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109728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64748B"/>
                </a:solidFill>
                <a:latin typeface="Aptos"/>
              </a:rPr>
              <a:t>The goal is not only to predict a label, but to measure which training strategy generalizes best.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901952"/>
            <a:ext cx="2468880" cy="9875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9536" y="2057400"/>
            <a:ext cx="868680" cy="292608"/>
          </a:xfrm>
          <a:prstGeom prst="roundRect">
            <a:avLst>
              <a:gd name="adj" fmla="val 12000"/>
            </a:avLst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89404"/>
            <a:ext cx="722375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172A45"/>
                </a:solidFill>
                <a:latin typeface="Aptos"/>
              </a:rPr>
              <a:t>LABEL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14016"/>
            <a:ext cx="2011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2B42"/>
                </a:solidFill>
                <a:latin typeface="Aptos Display"/>
              </a:rPr>
              <a:t>CAT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10128" y="1901952"/>
            <a:ext cx="2468880" cy="9875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11296" y="2057400"/>
            <a:ext cx="868680" cy="292608"/>
          </a:xfrm>
          <a:prstGeom prst="roundRect">
            <a:avLst>
              <a:gd name="adj" fmla="val 12000"/>
            </a:avLst>
          </a:prstGeom>
          <a:solidFill>
            <a:srgbClr val="E1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84448" y="2089404"/>
            <a:ext cx="722375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B7D79"/>
                </a:solidFill>
                <a:latin typeface="Aptos"/>
              </a:rPr>
              <a:t>LABEL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1296" y="2414016"/>
            <a:ext cx="2011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2B42"/>
                </a:solidFill>
                <a:latin typeface="Aptos Display"/>
              </a:rPr>
              <a:t>DOG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" y="3246120"/>
            <a:ext cx="53218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B7D79"/>
                </a:solidFill>
                <a:latin typeface="Aptos"/>
              </a:rPr>
              <a:t>Research question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" y="3657600"/>
            <a:ext cx="5248656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A2B42"/>
                </a:solidFill>
                <a:latin typeface="Aptos Display"/>
              </a:rPr>
              <a:t>How much do regularization, pretrained features and fine-tuning improve classification compared with a CNN trained from scratch?</a:t>
            </a:r>
          </a:p>
        </p:txBody>
      </p:sp>
      <p:sp>
        <p:nvSpPr>
          <p:cNvPr id="16" name="Oval 15"/>
          <p:cNvSpPr/>
          <p:nvPr/>
        </p:nvSpPr>
        <p:spPr>
          <a:xfrm>
            <a:off x="694944" y="4818888"/>
            <a:ext cx="91440" cy="91440"/>
          </a:xfrm>
          <a:prstGeom prst="ellipse">
            <a:avLst/>
          </a:prstGeom>
          <a:solidFill>
            <a:srgbClr val="14A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727448"/>
            <a:ext cx="48737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30" b="0" i="0">
                <a:solidFill>
                  <a:srgbClr val="1A2B42"/>
                </a:solidFill>
                <a:latin typeface="Aptos"/>
              </a:rPr>
              <a:t>Keep the train / validation / test protocol consistent.</a:t>
            </a:r>
          </a:p>
        </p:txBody>
      </p:sp>
      <p:sp>
        <p:nvSpPr>
          <p:cNvPr id="18" name="Oval 17"/>
          <p:cNvSpPr/>
          <p:nvPr/>
        </p:nvSpPr>
        <p:spPr>
          <a:xfrm>
            <a:off x="694944" y="5193792"/>
            <a:ext cx="91440" cy="91440"/>
          </a:xfrm>
          <a:prstGeom prst="ellipse">
            <a:avLst/>
          </a:prstGeom>
          <a:solidFill>
            <a:srgbClr val="14A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5102352"/>
            <a:ext cx="48737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30" b="0" i="0">
                <a:solidFill>
                  <a:srgbClr val="1A2B42"/>
                </a:solidFill>
                <a:latin typeface="Aptos"/>
              </a:rPr>
              <a:t>Compare four experiments on one held-out test set.</a:t>
            </a:r>
          </a:p>
        </p:txBody>
      </p:sp>
      <p:sp>
        <p:nvSpPr>
          <p:cNvPr id="20" name="Oval 19"/>
          <p:cNvSpPr/>
          <p:nvPr/>
        </p:nvSpPr>
        <p:spPr>
          <a:xfrm>
            <a:off x="694944" y="5568696"/>
            <a:ext cx="91440" cy="91440"/>
          </a:xfrm>
          <a:prstGeom prst="ellipse">
            <a:avLst/>
          </a:prstGeom>
          <a:solidFill>
            <a:srgbClr val="14A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5477256"/>
            <a:ext cx="48737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30" b="0" i="0">
                <a:solidFill>
                  <a:srgbClr val="1A2B42"/>
                </a:solidFill>
                <a:latin typeface="Aptos"/>
              </a:rPr>
              <a:t>Add a visual explanation through Grad-CAM.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1901952"/>
            <a:ext cx="5285232" cy="39684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training_samples.png"/>
          <p:cNvPicPr>
            <a:picLocks noChangeAspect="1"/>
          </p:cNvPicPr>
          <p:nvPr/>
        </p:nvPicPr>
        <p:blipFill>
          <a:blip r:embed="rId2"/>
          <a:srcRect t="3676" b="3676"/>
          <a:stretch>
            <a:fillRect/>
          </a:stretch>
        </p:blipFill>
        <p:spPr>
          <a:xfrm>
            <a:off x="6419088" y="2057400"/>
            <a:ext cx="4974336" cy="345643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437376" y="5596128"/>
            <a:ext cx="49377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Aptos"/>
              </a:rPr>
              <a:t>Representative labeled examples from the project dataset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66928" y="6473952"/>
            <a:ext cx="11064240" cy="0"/>
          </a:xfrm>
          <a:prstGeom prst="line">
            <a:avLst/>
          </a:prstGeom>
          <a:ln w="8890">
            <a:solidFill>
              <a:srgbClr val="D8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94360" y="6537960"/>
            <a:ext cx="77724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A1ADBC"/>
                </a:solidFill>
                <a:latin typeface="Aptos"/>
              </a:rPr>
              <a:t>UE24CS352A  •  MACHINE LEARNING MINI-PROJECT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45952" y="6519672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A1ADBC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20040"/>
            <a:ext cx="1645920" cy="292608"/>
          </a:xfrm>
          <a:prstGeom prst="roundRect">
            <a:avLst>
              <a:gd name="adj" fmla="val 12000"/>
            </a:avLst>
          </a:prstGeom>
          <a:solidFill>
            <a:srgbClr val="E1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52044"/>
            <a:ext cx="1499616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B7D79"/>
                </a:solidFill>
                <a:latin typeface="Aptos"/>
              </a:rPr>
              <a:t>02 /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10185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A2B42"/>
                </a:solidFill>
                <a:latin typeface="Aptos Display"/>
              </a:rPr>
              <a:t>25,000 images in; 24,994 used after quality checks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109728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64748B"/>
                </a:solidFill>
                <a:latin typeface="Aptos"/>
              </a:rPr>
              <a:t>Balanced cats-versus-dogs data, with a reproducible split and explicit duplicate checks.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56231"/>
            <a:ext cx="333756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56231"/>
            <a:ext cx="64008" cy="1234440"/>
          </a:xfrm>
          <a:prstGeom prst="rect">
            <a:avLst/>
          </a:prstGeom>
          <a:solidFill>
            <a:srgbClr val="17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2002536"/>
            <a:ext cx="300837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1A2B42"/>
                </a:solidFill>
                <a:latin typeface="Aptos Display"/>
              </a:rPr>
              <a:t>25,000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514600"/>
            <a:ext cx="300837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64748B"/>
                </a:solidFill>
                <a:latin typeface="Aptos"/>
              </a:rPr>
              <a:t>ORIGINAL LABELED IMAGES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6552" y="1856231"/>
            <a:ext cx="333756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16552" y="1856231"/>
            <a:ext cx="64008" cy="1234440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2002536"/>
            <a:ext cx="300837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1A2B42"/>
                </a:solidFill>
                <a:latin typeface="Aptos Display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514600"/>
            <a:ext cx="300837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64748B"/>
                </a:solidFill>
                <a:latin typeface="Aptos"/>
              </a:rPr>
              <a:t>EXCLUDED AFTER CHECKS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706624"/>
            <a:ext cx="30083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Aptos"/>
              </a:rPr>
              <a:t>Reasons recorded in excluded.csv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74736" y="1856231"/>
            <a:ext cx="333756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74736" y="1856231"/>
            <a:ext cx="64008" cy="1234440"/>
          </a:xfrm>
          <a:prstGeom prst="rect">
            <a:avLst/>
          </a:prstGeom>
          <a:solidFill>
            <a:srgbClr val="14A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5904" y="2002536"/>
            <a:ext cx="300837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1A2B42"/>
                </a:solidFill>
                <a:latin typeface="Aptos Display"/>
              </a:rPr>
              <a:t>24,994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5904" y="2514600"/>
            <a:ext cx="300837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64748B"/>
                </a:solidFill>
                <a:latin typeface="Aptos"/>
              </a:rPr>
              <a:t>IMAGES IN THE SPLITS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" y="3364992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B7D79"/>
                </a:solidFill>
                <a:latin typeface="Aptos"/>
              </a:rPr>
              <a:t>STRATIFIED SPLIT  •  SEED 42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4944" y="3785615"/>
            <a:ext cx="8675827" cy="457200"/>
          </a:xfrm>
          <a:prstGeom prst="rect">
            <a:avLst/>
          </a:prstGeom>
          <a:solidFill>
            <a:srgbClr val="17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70771" y="3785615"/>
            <a:ext cx="1735165" cy="457200"/>
          </a:xfrm>
          <a:prstGeom prst="rect">
            <a:avLst/>
          </a:prstGeom>
          <a:solidFill>
            <a:srgbClr val="14A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105936" y="3785615"/>
            <a:ext cx="433791" cy="457200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416552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A2B42"/>
                </a:solidFill>
                <a:latin typeface="Aptos"/>
              </a:rPr>
              <a:t>TRAIN  19,994  (80%)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16568" y="4416552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B7D79"/>
                </a:solidFill>
                <a:latin typeface="Aptos"/>
              </a:rPr>
              <a:t>VAL 3,998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42448" y="4416552"/>
            <a:ext cx="10241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D9822B"/>
                </a:solidFill>
                <a:latin typeface="Aptos"/>
              </a:rPr>
              <a:t>TEST 1,002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" y="4983480"/>
            <a:ext cx="10844784" cy="804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3544" y="5166360"/>
            <a:ext cx="1143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  <a:latin typeface="Aptos"/>
              </a:rPr>
              <a:t>CLASS BALANCE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67712" y="5074920"/>
            <a:ext cx="2423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0B7D79"/>
                </a:solidFill>
                <a:latin typeface="Aptos"/>
              </a:rPr>
              <a:t>TRAIN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67712" y="5358384"/>
            <a:ext cx="2423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2B42"/>
                </a:solidFill>
                <a:latin typeface="Aptos"/>
              </a:rPr>
              <a:t>9,997 cats  •  9,997 dogs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40680" y="5074920"/>
            <a:ext cx="2423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0B7D79"/>
                </a:solidFill>
                <a:latin typeface="Aptos"/>
              </a:rPr>
              <a:t>VALIDATION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40680" y="5358384"/>
            <a:ext cx="2423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2B42"/>
                </a:solidFill>
                <a:latin typeface="Aptos"/>
              </a:rPr>
              <a:t>1,999 cats  •  1,999 dogs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68512" y="5074920"/>
            <a:ext cx="2423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0B7D79"/>
                </a:solidFill>
                <a:latin typeface="Aptos"/>
              </a:rPr>
              <a:t>TEST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68512" y="5358384"/>
            <a:ext cx="2423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2B42"/>
                </a:solidFill>
                <a:latin typeface="Aptos"/>
              </a:rPr>
              <a:t>501 cats  •  501 dogs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971032"/>
            <a:ext cx="10698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Aptos"/>
              </a:rPr>
              <a:t>Integrity checks: readable images • filename-derived labels • exact RGB-pixel duplicate hashes • no cross-split overlap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66928" y="6473952"/>
            <a:ext cx="11064240" cy="0"/>
          </a:xfrm>
          <a:prstGeom prst="line">
            <a:avLst/>
          </a:prstGeom>
          <a:ln w="8890">
            <a:solidFill>
              <a:srgbClr val="D8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94360" y="6537960"/>
            <a:ext cx="77724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A1ADBC"/>
                </a:solidFill>
                <a:latin typeface="Aptos"/>
              </a:rPr>
              <a:t>UE24CS352A  •  MACHINE LEARNING MINI-PROJECT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45952" y="6519672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A1ADBC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20040"/>
            <a:ext cx="2194560" cy="292608"/>
          </a:xfrm>
          <a:prstGeom prst="roundRect">
            <a:avLst>
              <a:gd name="adj" fmla="val 12000"/>
            </a:avLst>
          </a:prstGeom>
          <a:solidFill>
            <a:srgbClr val="E1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52044"/>
            <a:ext cx="2048255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B7D79"/>
                </a:solidFill>
                <a:latin typeface="Aptos"/>
              </a:rPr>
              <a:t>03 / 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10185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A2B42"/>
                </a:solidFill>
                <a:latin typeface="Aptos Display"/>
              </a:rPr>
              <a:t>A reproducible pipeline prevents avoidable evaluation errors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109728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64748B"/>
                </a:solidFill>
                <a:latin typeface="Aptos"/>
              </a:rPr>
              <a:t>The images stay in place; CSV manifests define which files belong to each split.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2057400"/>
            <a:ext cx="1664208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86384" y="2267712"/>
            <a:ext cx="393192" cy="393192"/>
          </a:xfrm>
          <a:prstGeom prst="ellipse">
            <a:avLst/>
          </a:prstGeom>
          <a:solidFill>
            <a:srgbClr val="14A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2340864"/>
            <a:ext cx="3931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834640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A2B42"/>
                </a:solidFill>
                <a:latin typeface="Aptos"/>
              </a:rPr>
              <a:t>VALIDATE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3255264"/>
            <a:ext cx="1371600" cy="832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60" b="0" i="0">
                <a:solidFill>
                  <a:srgbClr val="64748B"/>
                </a:solidFill>
                <a:latin typeface="Aptos"/>
              </a:rPr>
              <a:t>Can the image open? Does its filename map to a label?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322576" y="3154680"/>
            <a:ext cx="548640" cy="0"/>
          </a:xfrm>
          <a:prstGeom prst="line">
            <a:avLst/>
          </a:prstGeom>
          <a:ln w="19050">
            <a:solidFill>
              <a:srgbClr val="14A9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944368" y="2057400"/>
            <a:ext cx="1664208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108960" y="2267712"/>
            <a:ext cx="393192" cy="393192"/>
          </a:xfrm>
          <a:prstGeom prst="ellipse">
            <a:avLst/>
          </a:prstGeom>
          <a:solidFill>
            <a:srgbClr val="14A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08960" y="2340864"/>
            <a:ext cx="3931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90672" y="2834640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A2B42"/>
                </a:solidFill>
                <a:latin typeface="Aptos"/>
              </a:rPr>
              <a:t>DEDUPLICATE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3255264"/>
            <a:ext cx="1371600" cy="832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60" b="0" i="0">
                <a:solidFill>
                  <a:srgbClr val="64748B"/>
                </a:solidFill>
                <a:latin typeface="Aptos"/>
              </a:rPr>
              <a:t>Hash decoded RGB pixels; exclude six images.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645152" y="3154680"/>
            <a:ext cx="548640" cy="0"/>
          </a:xfrm>
          <a:prstGeom prst="line">
            <a:avLst/>
          </a:prstGeom>
          <a:ln w="19050">
            <a:solidFill>
              <a:srgbClr val="14A9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266944" y="2057400"/>
            <a:ext cx="1664208" cy="2286000"/>
          </a:xfrm>
          <a:prstGeom prst="roundRect">
            <a:avLst>
              <a:gd name="adj" fmla="val 12000"/>
            </a:avLst>
          </a:prstGeom>
          <a:solidFill>
            <a:srgbClr val="E8EFF8"/>
          </a:solidFill>
          <a:ln w="889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431536" y="2267712"/>
            <a:ext cx="393192" cy="393192"/>
          </a:xfrm>
          <a:prstGeom prst="ellipse">
            <a:avLst/>
          </a:prstGeom>
          <a:solidFill>
            <a:srgbClr val="17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31536" y="2340864"/>
            <a:ext cx="3931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13248" y="2834640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A2B42"/>
                </a:solidFill>
                <a:latin typeface="Aptos"/>
              </a:rPr>
              <a:t>SPLIT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13248" y="3255264"/>
            <a:ext cx="1371600" cy="832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60" b="0" i="0">
                <a:solidFill>
                  <a:srgbClr val="64748B"/>
                </a:solidFill>
                <a:latin typeface="Aptos"/>
              </a:rPr>
              <a:t>Stratify by class with seed 42; verify no overlap.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967728" y="3154680"/>
            <a:ext cx="548640" cy="0"/>
          </a:xfrm>
          <a:prstGeom prst="line">
            <a:avLst/>
          </a:prstGeom>
          <a:ln w="19050">
            <a:solidFill>
              <a:srgbClr val="14A9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589520" y="2057400"/>
            <a:ext cx="1664208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754112" y="2267712"/>
            <a:ext cx="393192" cy="393192"/>
          </a:xfrm>
          <a:prstGeom prst="ellipse">
            <a:avLst/>
          </a:prstGeom>
          <a:solidFill>
            <a:srgbClr val="14A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54112" y="2340864"/>
            <a:ext cx="3931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35824" y="2834640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A2B42"/>
                </a:solidFill>
                <a:latin typeface="Aptos"/>
              </a:rPr>
              <a:t>TRANSFORM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35824" y="3255264"/>
            <a:ext cx="1371600" cy="832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60" b="0" i="0">
                <a:solidFill>
                  <a:srgbClr val="64748B"/>
                </a:solidFill>
                <a:latin typeface="Aptos"/>
              </a:rPr>
              <a:t>Resize to 224 × 224; normalize with ImageNet mean / std.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90304" y="3154680"/>
            <a:ext cx="548640" cy="0"/>
          </a:xfrm>
          <a:prstGeom prst="line">
            <a:avLst/>
          </a:prstGeom>
          <a:ln w="19050">
            <a:solidFill>
              <a:srgbClr val="14A9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912096" y="2057400"/>
            <a:ext cx="1664208" cy="2286000"/>
          </a:xfrm>
          <a:prstGeom prst="roundRect">
            <a:avLst>
              <a:gd name="adj" fmla="val 12000"/>
            </a:avLst>
          </a:prstGeom>
          <a:solidFill>
            <a:srgbClr val="E1F5F2"/>
          </a:solidFill>
          <a:ln w="889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076688" y="2267712"/>
            <a:ext cx="393192" cy="393192"/>
          </a:xfrm>
          <a:prstGeom prst="ellipse">
            <a:avLst/>
          </a:prstGeom>
          <a:solidFill>
            <a:srgbClr val="14A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76688" y="2340864"/>
            <a:ext cx="3931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2834640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A2B42"/>
                </a:solidFill>
                <a:latin typeface="Aptos"/>
              </a:rPr>
              <a:t>AUGMENT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3255264"/>
            <a:ext cx="1371600" cy="832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60" b="0" i="0">
                <a:solidFill>
                  <a:srgbClr val="64748B"/>
                </a:solidFill>
                <a:latin typeface="Aptos"/>
              </a:rPr>
              <a:t>Train only: horizontal flip (p = 0.5), rotation ±10°.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4828032"/>
            <a:ext cx="10899648" cy="969264"/>
          </a:xfrm>
          <a:prstGeom prst="roundRect">
            <a:avLst>
              <a:gd name="adj" fmla="val 12000"/>
            </a:avLst>
          </a:prstGeom>
          <a:solidFill>
            <a:srgbClr val="17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6112" y="5047488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2D8CF"/>
                </a:solidFill>
                <a:latin typeface="Aptos"/>
              </a:rPr>
              <a:t>FAIR EVALUATION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70048" y="5001768"/>
            <a:ext cx="8458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ptos"/>
              </a:rPr>
              <a:t>Validation and test images receive no random augmentation. Seeds are fixed, including DataLoader workers.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" y="6016752"/>
            <a:ext cx="10698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Aptos"/>
              </a:rPr>
              <a:t>Training augmentation applies to the regularized VGG-6 and VGG-16 experiments, not the original baseline.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66928" y="6473952"/>
            <a:ext cx="11064240" cy="0"/>
          </a:xfrm>
          <a:prstGeom prst="line">
            <a:avLst/>
          </a:prstGeom>
          <a:ln w="8890">
            <a:solidFill>
              <a:srgbClr val="D8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94360" y="6537960"/>
            <a:ext cx="77724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A1ADBC"/>
                </a:solidFill>
                <a:latin typeface="Aptos"/>
              </a:rPr>
              <a:t>UE24CS352A  •  MACHINE LEARNING MINI-PROJECT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45952" y="6519672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A1ADBC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20040"/>
            <a:ext cx="2011680" cy="292608"/>
          </a:xfrm>
          <a:prstGeom prst="roundRect">
            <a:avLst>
              <a:gd name="adj" fmla="val 12000"/>
            </a:avLst>
          </a:prstGeom>
          <a:solidFill>
            <a:srgbClr val="E1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52044"/>
            <a:ext cx="1865376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B7D79"/>
                </a:solidFill>
                <a:latin typeface="Aptos"/>
              </a:rPr>
              <a:t>04 / EXPERIMENTS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10185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A2B42"/>
                </a:solidFill>
                <a:latin typeface="Aptos Display"/>
              </a:rPr>
              <a:t>Four experiments isolate the effect of each training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109728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64748B"/>
                </a:solidFill>
                <a:latin typeface="Aptos"/>
              </a:rPr>
              <a:t>All experiments use 224 × 224 inputs, RMSprop, batch size 32 and BCE-with-logits loss.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74519"/>
            <a:ext cx="5285232" cy="17190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74519"/>
            <a:ext cx="91440" cy="1719072"/>
          </a:xfrm>
          <a:prstGeom prst="rect">
            <a:avLst/>
          </a:prstGeom>
          <a:solidFill>
            <a:srgbClr val="17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2048255"/>
            <a:ext cx="475488" cy="292608"/>
          </a:xfrm>
          <a:prstGeom prst="roundRect">
            <a:avLst>
              <a:gd name="adj" fmla="val 12000"/>
            </a:avLst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80260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172A45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90472" y="2011679"/>
            <a:ext cx="40690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A2B42"/>
                </a:solidFill>
                <a:latin typeface="Aptos Display"/>
              </a:rPr>
              <a:t>VGG-6 baseline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90472" y="2377439"/>
            <a:ext cx="4069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72A45"/>
                </a:solidFill>
                <a:latin typeface="Aptos"/>
              </a:rPr>
              <a:t>TRAIN FROM SCRATCH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770632"/>
            <a:ext cx="46634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40" b="0" i="0">
                <a:solidFill>
                  <a:srgbClr val="64748B"/>
                </a:solidFill>
                <a:latin typeface="Aptos"/>
              </a:rPr>
              <a:t>4 convolutional blocks
32 → 64 → 128 → 128 filters
No dropout; no augmentation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5352" y="1874519"/>
            <a:ext cx="5285232" cy="17190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45352" y="1874519"/>
            <a:ext cx="91440" cy="1719072"/>
          </a:xfrm>
          <a:prstGeom prst="rect">
            <a:avLst/>
          </a:prstGeom>
          <a:solidFill>
            <a:srgbClr val="0B7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73952" y="2048255"/>
            <a:ext cx="475488" cy="292608"/>
          </a:xfrm>
          <a:prstGeom prst="roundRect">
            <a:avLst>
              <a:gd name="adj" fmla="val 12000"/>
            </a:avLst>
          </a:prstGeom>
          <a:solidFill>
            <a:srgbClr val="E1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47104" y="2080260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B7D79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77456" y="2011679"/>
            <a:ext cx="40690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A2B42"/>
                </a:solidFill>
                <a:latin typeface="Aptos Display"/>
              </a:rPr>
              <a:t>VGG-6 + regularization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77456" y="2377439"/>
            <a:ext cx="4069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0B7D79"/>
                </a:solidFill>
                <a:latin typeface="Aptos"/>
              </a:rPr>
              <a:t>CONTROL OVERFITTING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2770632"/>
            <a:ext cx="46634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40" b="0" i="0">
                <a:solidFill>
                  <a:srgbClr val="64748B"/>
                </a:solidFill>
                <a:latin typeface="Aptos"/>
              </a:rPr>
              <a:t>Same VGG-6 backbone
Dropout = 0.5
Flip + rotation augmentation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913632"/>
            <a:ext cx="5285232" cy="17190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" y="3913632"/>
            <a:ext cx="91440" cy="1719072"/>
          </a:xfrm>
          <a:prstGeom prst="rect">
            <a:avLst/>
          </a:prstGeom>
          <a:solidFill>
            <a:srgbClr val="0B7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86968" y="4087368"/>
            <a:ext cx="475488" cy="292608"/>
          </a:xfrm>
          <a:prstGeom prst="roundRect">
            <a:avLst>
              <a:gd name="adj" fmla="val 12000"/>
            </a:avLst>
          </a:prstGeom>
          <a:solidFill>
            <a:srgbClr val="E1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119372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B7D79"/>
                </a:solidFill>
                <a:latin typeface="Aptos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90472" y="4050792"/>
            <a:ext cx="40690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A2B42"/>
                </a:solidFill>
                <a:latin typeface="Aptos Display"/>
              </a:rPr>
              <a:t>Frozen VGG-16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90472" y="4416552"/>
            <a:ext cx="4069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0B7D79"/>
                </a:solidFill>
                <a:latin typeface="Aptos"/>
              </a:rPr>
              <a:t>TRANSFER LEARNING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809744"/>
            <a:ext cx="46634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40" b="0" i="0">
                <a:solidFill>
                  <a:srgbClr val="64748B"/>
                </a:solidFill>
                <a:latin typeface="Aptos"/>
              </a:rPr>
              <a:t>ImageNet-pretrained features
Convolutions frozen
Train replacement binary head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45352" y="3913632"/>
            <a:ext cx="5285232" cy="17190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45352" y="3913632"/>
            <a:ext cx="91440" cy="1719072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73952" y="4087368"/>
            <a:ext cx="475488" cy="292608"/>
          </a:xfrm>
          <a:prstGeom prst="roundRect">
            <a:avLst>
              <a:gd name="adj" fmla="val 12000"/>
            </a:avLst>
          </a:prstGeom>
          <a:solidFill>
            <a:srgbClr val="FF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47104" y="4119372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D9822B"/>
                </a:solidFill>
                <a:latin typeface="Aptos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77456" y="4050792"/>
            <a:ext cx="40690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A2B42"/>
                </a:solidFill>
                <a:latin typeface="Aptos Display"/>
              </a:rPr>
              <a:t>Fine-tuned VGG-16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77456" y="4416552"/>
            <a:ext cx="4069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D9822B"/>
                </a:solidFill>
                <a:latin typeface="Aptos"/>
              </a:rPr>
              <a:t>ADAPT HIGH-LEVEL FEATURES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01384" y="4809744"/>
            <a:ext cx="46634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40" b="0" i="0">
                <a:solidFill>
                  <a:srgbClr val="64748B"/>
                </a:solidFill>
                <a:latin typeface="Aptos"/>
              </a:rPr>
              <a:t>Blocks 1–4 frozen
Block 5 + classifier trainable
10 additional epochs; LR = 1e-5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925312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B7D79"/>
                </a:solidFill>
                <a:latin typeface="Aptos"/>
              </a:rPr>
              <a:t>Checkpoint policy: save the model with the lowest validation loss; use the same held-out test set for comparisons.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66928" y="6473952"/>
            <a:ext cx="11064240" cy="0"/>
          </a:xfrm>
          <a:prstGeom prst="line">
            <a:avLst/>
          </a:prstGeom>
          <a:ln w="8890">
            <a:solidFill>
              <a:srgbClr val="D8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94360" y="6537960"/>
            <a:ext cx="77724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A1ADBC"/>
                </a:solidFill>
                <a:latin typeface="Aptos"/>
              </a:rPr>
              <a:t>UE24CS352A  •  MACHINE LEARNING MINI-PROJECT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45952" y="6519672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A1ADBC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20040"/>
            <a:ext cx="1645920" cy="292608"/>
          </a:xfrm>
          <a:prstGeom prst="roundRect">
            <a:avLst>
              <a:gd name="adj" fmla="val 12000"/>
            </a:avLst>
          </a:prstGeom>
          <a:solidFill>
            <a:srgbClr val="E1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52044"/>
            <a:ext cx="1499616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B7D79"/>
                </a:solidFill>
                <a:latin typeface="Aptos"/>
              </a:rPr>
              <a:t>05 /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10185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A2B42"/>
                </a:solidFill>
                <a:latin typeface="Aptos Display"/>
              </a:rPr>
              <a:t>Transfer learning delivers the largest accuracy jump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109728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64748B"/>
                </a:solidFill>
                <a:latin typeface="Aptos"/>
              </a:rPr>
              <a:t>All four results were measured on the same 1,002-image test set using a 0.5 threshold.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7040880" cy="4069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039112"/>
            <a:ext cx="6309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Aptos"/>
              </a:rPr>
              <a:t>TEST ACCURACY BY EXPERIMENT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42032"/>
            <a:ext cx="19933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0" i="0">
                <a:solidFill>
                  <a:srgbClr val="1A2B42"/>
                </a:solidFill>
                <a:latin typeface="Aptos"/>
              </a:rPr>
              <a:t>VGG-6 baseline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2560320"/>
            <a:ext cx="3520440" cy="228600"/>
          </a:xfrm>
          <a:prstGeom prst="roundRect">
            <a:avLst>
              <a:gd name="adj" fmla="val 12000"/>
            </a:avLst>
          </a:prstGeom>
          <a:solidFill>
            <a:srgbClr val="E8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926080" y="2560320"/>
            <a:ext cx="3067359" cy="228600"/>
          </a:xfrm>
          <a:prstGeom prst="roundRect">
            <a:avLst>
              <a:gd name="adj" fmla="val 12000"/>
            </a:avLst>
          </a:prstGeom>
          <a:solidFill>
            <a:srgbClr val="17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2514600"/>
            <a:ext cx="859536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72A45"/>
                </a:solidFill>
                <a:latin typeface="Aptos"/>
              </a:rPr>
              <a:t>87.13%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35224" y="2852927"/>
            <a:ext cx="3337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9" b="0" i="0">
                <a:solidFill>
                  <a:srgbClr val="64748B"/>
                </a:solidFill>
                <a:latin typeface="Aptos"/>
              </a:rPr>
              <a:t>873 / 1,002 correct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91839"/>
            <a:ext cx="19933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0" i="0">
                <a:solidFill>
                  <a:srgbClr val="1A2B42"/>
                </a:solidFill>
                <a:latin typeface="Aptos"/>
              </a:rPr>
              <a:t>VGG-6 + regularization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26080" y="3310127"/>
            <a:ext cx="3520440" cy="228600"/>
          </a:xfrm>
          <a:prstGeom prst="roundRect">
            <a:avLst>
              <a:gd name="adj" fmla="val 12000"/>
            </a:avLst>
          </a:prstGeom>
          <a:solidFill>
            <a:srgbClr val="E8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926080" y="3310127"/>
            <a:ext cx="3270840" cy="228600"/>
          </a:xfrm>
          <a:prstGeom prst="roundRect">
            <a:avLst>
              <a:gd name="adj" fmla="val 12000"/>
            </a:avLst>
          </a:prstGeom>
          <a:solidFill>
            <a:srgbClr val="507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9672" y="3264408"/>
            <a:ext cx="859536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507A9C"/>
                </a:solidFill>
                <a:latin typeface="Aptos"/>
              </a:rPr>
              <a:t>92.91%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35224" y="3602735"/>
            <a:ext cx="3337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9" b="0" i="0">
                <a:solidFill>
                  <a:srgbClr val="64748B"/>
                </a:solidFill>
                <a:latin typeface="Aptos"/>
              </a:rPr>
              <a:t>931 / 1,002 correct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041648"/>
            <a:ext cx="19933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0" i="0">
                <a:solidFill>
                  <a:srgbClr val="1A2B42"/>
                </a:solidFill>
                <a:latin typeface="Aptos"/>
              </a:rPr>
              <a:t>Frozen VGG-16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26080" y="4059935"/>
            <a:ext cx="3520440" cy="228600"/>
          </a:xfrm>
          <a:prstGeom prst="roundRect">
            <a:avLst>
              <a:gd name="adj" fmla="val 12000"/>
            </a:avLst>
          </a:prstGeom>
          <a:solidFill>
            <a:srgbClr val="E8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926080" y="4059935"/>
            <a:ext cx="3474674" cy="228600"/>
          </a:xfrm>
          <a:prstGeom prst="roundRect">
            <a:avLst>
              <a:gd name="adj" fmla="val 12000"/>
            </a:avLst>
          </a:prstGeom>
          <a:solidFill>
            <a:srgbClr val="0B7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9672" y="4014215"/>
            <a:ext cx="859536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0B7D79"/>
                </a:solidFill>
                <a:latin typeface="Aptos"/>
              </a:rPr>
              <a:t>98.70%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35224" y="4352544"/>
            <a:ext cx="3337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9" b="0" i="0">
                <a:solidFill>
                  <a:srgbClr val="64748B"/>
                </a:solidFill>
                <a:latin typeface="Aptos"/>
              </a:rPr>
              <a:t>989 / 1,002 correct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791456"/>
            <a:ext cx="19933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1" i="0">
                <a:solidFill>
                  <a:srgbClr val="1A2B42"/>
                </a:solidFill>
                <a:latin typeface="Aptos"/>
              </a:rPr>
              <a:t>Fine-tuned VGG-16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926080" y="4809744"/>
            <a:ext cx="3520440" cy="228600"/>
          </a:xfrm>
          <a:prstGeom prst="roundRect">
            <a:avLst>
              <a:gd name="adj" fmla="val 12000"/>
            </a:avLst>
          </a:prstGeom>
          <a:solidFill>
            <a:srgbClr val="E8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926080" y="4809744"/>
            <a:ext cx="3502837" cy="228600"/>
          </a:xfrm>
          <a:prstGeom prst="roundRect">
            <a:avLst>
              <a:gd name="adj" fmla="val 12000"/>
            </a:avLst>
          </a:prstGeom>
          <a:solidFill>
            <a:srgbClr val="14A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19672" y="4764024"/>
            <a:ext cx="859536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4A99A"/>
                </a:solidFill>
                <a:latin typeface="Aptos"/>
              </a:rPr>
              <a:t>99.50%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35224" y="5102352"/>
            <a:ext cx="3337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9" b="0" i="0">
                <a:solidFill>
                  <a:srgbClr val="64748B"/>
                </a:solidFill>
                <a:latin typeface="Aptos"/>
              </a:rPr>
              <a:t>997 / 1,002 correct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" y="5577840"/>
            <a:ext cx="6309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Aptos"/>
              </a:rPr>
              <a:t>Bars are scaled to 0–100%; exact percentages are shown at right.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01000" y="1828800"/>
            <a:ext cx="3520440" cy="13990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01000" y="1828800"/>
            <a:ext cx="64008" cy="1399032"/>
          </a:xfrm>
          <a:prstGeom prst="rect">
            <a:avLst/>
          </a:prstGeom>
          <a:solidFill>
            <a:srgbClr val="14A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02168" y="1975104"/>
            <a:ext cx="319125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1A2B42"/>
                </a:solidFill>
                <a:latin typeface="Aptos Display"/>
              </a:rPr>
              <a:t>99.50%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02168" y="2487168"/>
            <a:ext cx="319125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64748B"/>
                </a:solidFill>
                <a:latin typeface="Aptos"/>
              </a:rPr>
              <a:t>HIGHEST TEST ACCURACY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02168" y="2843784"/>
            <a:ext cx="31912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Aptos"/>
              </a:rPr>
              <a:t>Fine-tuned comparison model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01000" y="3456432"/>
            <a:ext cx="3520440" cy="1024128"/>
          </a:xfrm>
          <a:prstGeom prst="roundRect">
            <a:avLst>
              <a:gd name="adj" fmla="val 12000"/>
            </a:avLst>
          </a:prstGeom>
          <a:solidFill>
            <a:srgbClr val="E1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47888" y="3648456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0B7D79"/>
                </a:solidFill>
                <a:latin typeface="Aptos Display"/>
              </a:rPr>
              <a:t>+12.38 pp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47888" y="4087368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B7D79"/>
                </a:solidFill>
                <a:latin typeface="Aptos"/>
              </a:rPr>
              <a:t>accuracy gain vs. baseline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01000" y="4681728"/>
            <a:ext cx="3520440" cy="12070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0" y="4855464"/>
            <a:ext cx="3017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  <a:latin typeface="Aptos"/>
              </a:rPr>
              <a:t>MACRO F1  •  BASELINE → FINE-TUNED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5193792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A2B42"/>
                </a:solidFill>
                <a:latin typeface="Aptos"/>
              </a:rPr>
              <a:t>0.8712  →  0.9950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66928" y="6473952"/>
            <a:ext cx="11064240" cy="0"/>
          </a:xfrm>
          <a:prstGeom prst="line">
            <a:avLst/>
          </a:prstGeom>
          <a:ln w="8890">
            <a:solidFill>
              <a:srgbClr val="D8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94360" y="6537960"/>
            <a:ext cx="77724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A1ADBC"/>
                </a:solidFill>
                <a:latin typeface="Aptos"/>
              </a:rPr>
              <a:t>UE24CS352A  •  MACHINE LEARNING MINI-PROJECT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45952" y="6519672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A1ADBC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20040"/>
            <a:ext cx="2377440" cy="292608"/>
          </a:xfrm>
          <a:prstGeom prst="roundRect">
            <a:avLst>
              <a:gd name="adj" fmla="val 12000"/>
            </a:avLst>
          </a:prstGeom>
          <a:solidFill>
            <a:srgbClr val="17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52044"/>
            <a:ext cx="2231136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62D8CF"/>
                </a:solidFill>
                <a:latin typeface="Aptos"/>
              </a:rPr>
              <a:t>06 / MODEL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10185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Aptos Display"/>
              </a:rPr>
              <a:t>Why the deployed model is not the highest test scorer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109728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B9C7D9"/>
                </a:solidFill>
                <a:latin typeface="Aptos"/>
              </a:rPr>
              <a:t>A key methodological choice: select with validation data, then use the test set for evaluation.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947672"/>
            <a:ext cx="5230368" cy="2340864"/>
          </a:xfrm>
          <a:prstGeom prst="roundRect">
            <a:avLst>
              <a:gd name="adj" fmla="val 12000"/>
            </a:avLst>
          </a:prstGeom>
          <a:solidFill>
            <a:srgbClr val="172A45"/>
          </a:solidFill>
          <a:ln w="11430">
            <a:solidFill>
              <a:srgbClr val="345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2185416"/>
            <a:ext cx="1371600" cy="292608"/>
          </a:xfrm>
          <a:prstGeom prst="roundRect">
            <a:avLst>
              <a:gd name="adj" fmla="val 12000"/>
            </a:avLst>
          </a:prstGeom>
          <a:solidFill>
            <a:srgbClr val="244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217420"/>
            <a:ext cx="1225296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62D8CF"/>
                </a:solidFill>
                <a:latin typeface="Aptos"/>
              </a:rPr>
              <a:t>DEPLOYED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60904"/>
            <a:ext cx="448056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ptos Display"/>
              </a:rPr>
              <a:t>Frozen VGG-16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182112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C7D4E4"/>
                </a:solidFill>
                <a:latin typeface="Aptos"/>
              </a:rPr>
              <a:t>Checkpoint: best.pt  •  epoch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611880"/>
            <a:ext cx="45262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62D8CF"/>
                </a:solidFill>
                <a:latin typeface="Aptos"/>
              </a:rPr>
              <a:t>Lowest validation loss: ≈ 0.0428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968496"/>
            <a:ext cx="4526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A7B7CA"/>
                </a:solidFill>
                <a:latin typeface="Aptos"/>
              </a:rPr>
              <a:t>Selected before test-set evaluation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947672"/>
            <a:ext cx="5330952" cy="2340864"/>
          </a:xfrm>
          <a:prstGeom prst="roundRect">
            <a:avLst>
              <a:gd name="adj" fmla="val 12000"/>
            </a:avLst>
          </a:prstGeom>
          <a:solidFill>
            <a:srgbClr val="192A42"/>
          </a:solidFill>
          <a:ln w="11430">
            <a:solidFill>
              <a:srgbClr val="345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37376" y="2185416"/>
            <a:ext cx="1664208" cy="292608"/>
          </a:xfrm>
          <a:prstGeom prst="roundRect">
            <a:avLst>
              <a:gd name="adj" fmla="val 12000"/>
            </a:avLst>
          </a:prstGeom>
          <a:solidFill>
            <a:srgbClr val="3B2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0528" y="2217420"/>
            <a:ext cx="151790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7BD7B"/>
                </a:solidFill>
                <a:latin typeface="Aptos"/>
              </a:rPr>
              <a:t>COMPARISON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7376" y="2660904"/>
            <a:ext cx="448056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ptos Display"/>
              </a:rPr>
              <a:t>Fine-tuned VGG-16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5664" y="3182112"/>
            <a:ext cx="4526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7BD7B"/>
                </a:solidFill>
                <a:latin typeface="Aptos"/>
              </a:rPr>
              <a:t>Test accuracy: 99.50%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5664" y="361188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7D4E4"/>
                </a:solidFill>
                <a:latin typeface="Aptos"/>
              </a:rPr>
              <a:t>Validation loss did not improve, so this model was not chosen for deployment.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14400" y="4983480"/>
            <a:ext cx="10287000" cy="0"/>
          </a:xfrm>
          <a:prstGeom prst="line">
            <a:avLst/>
          </a:prstGeom>
          <a:ln w="12700">
            <a:solidFill>
              <a:srgbClr val="4053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1078992" y="5285232"/>
            <a:ext cx="365760" cy="365760"/>
          </a:xfrm>
          <a:prstGeom prst="ellipse">
            <a:avLst/>
          </a:prstGeom>
          <a:solidFill>
            <a:srgbClr val="14A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8992" y="5358384"/>
            <a:ext cx="36576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9343" y="5257800"/>
            <a:ext cx="23317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2D8CF"/>
                </a:solidFill>
                <a:latin typeface="Aptos"/>
              </a:rPr>
              <a:t>TRAIN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9343" y="555040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7D4E4"/>
                </a:solidFill>
                <a:latin typeface="Aptos"/>
              </a:rPr>
              <a:t>Fit parameters</a:t>
            </a:r>
          </a:p>
        </p:txBody>
      </p:sp>
      <p:sp>
        <p:nvSpPr>
          <p:cNvPr id="24" name="Oval 23"/>
          <p:cNvSpPr/>
          <p:nvPr/>
        </p:nvSpPr>
        <p:spPr>
          <a:xfrm>
            <a:off x="4782312" y="5285232"/>
            <a:ext cx="365760" cy="365760"/>
          </a:xfrm>
          <a:prstGeom prst="ellipse">
            <a:avLst/>
          </a:prstGeom>
          <a:solidFill>
            <a:srgbClr val="14A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82312" y="5358384"/>
            <a:ext cx="36576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12664" y="5257800"/>
            <a:ext cx="23317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2D8CF"/>
                </a:solidFill>
                <a:latin typeface="Aptos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12664" y="555040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7D4E4"/>
                </a:solidFill>
                <a:latin typeface="Aptos"/>
              </a:rPr>
              <a:t>Choose checkpoint</a:t>
            </a:r>
          </a:p>
        </p:txBody>
      </p:sp>
      <p:sp>
        <p:nvSpPr>
          <p:cNvPr id="28" name="Oval 27"/>
          <p:cNvSpPr/>
          <p:nvPr/>
        </p:nvSpPr>
        <p:spPr>
          <a:xfrm>
            <a:off x="8485632" y="5285232"/>
            <a:ext cx="365760" cy="365760"/>
          </a:xfrm>
          <a:prstGeom prst="ellipse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85632" y="5358384"/>
            <a:ext cx="36576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15984" y="5257800"/>
            <a:ext cx="23317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7BD7B"/>
                </a:solidFill>
                <a:latin typeface="Aptos"/>
              </a:rPr>
              <a:t>TEST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15984" y="555040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7D4E4"/>
                </a:solidFill>
                <a:latin typeface="Aptos"/>
              </a:rPr>
              <a:t>Report held-out performance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6053328"/>
            <a:ext cx="10607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1">
                <a:solidFill>
                  <a:srgbClr val="E3ECF7"/>
                </a:solidFill>
                <a:latin typeface="Aptos"/>
              </a:rPr>
              <a:t>The 99.50% fine-tuning result is reported transparently, but it did not drive model selection.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66928" y="6473952"/>
            <a:ext cx="11064240" cy="0"/>
          </a:xfrm>
          <a:prstGeom prst="line">
            <a:avLst/>
          </a:prstGeom>
          <a:ln w="8890">
            <a:solidFill>
              <a:srgbClr val="3042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94360" y="6537960"/>
            <a:ext cx="77724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51627B"/>
                </a:solidFill>
                <a:latin typeface="Aptos"/>
              </a:rPr>
              <a:t>UE24CS352A  •  MACHINE LEARNING MINI-PROJECT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45952" y="6519672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51627B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20040"/>
            <a:ext cx="2286000" cy="292608"/>
          </a:xfrm>
          <a:prstGeom prst="roundRect">
            <a:avLst>
              <a:gd name="adj" fmla="val 12000"/>
            </a:avLst>
          </a:prstGeom>
          <a:solidFill>
            <a:srgbClr val="E1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52044"/>
            <a:ext cx="2139696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B7D79"/>
                </a:solidFill>
                <a:latin typeface="Aptos"/>
              </a:rPr>
              <a:t>07 / ERROR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10185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A2B42"/>
                </a:solidFill>
                <a:latin typeface="Aptos Display"/>
              </a:rPr>
              <a:t>The number of test mistakes falls at each stage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109728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64748B"/>
                </a:solidFill>
                <a:latin typeface="Aptos"/>
              </a:rPr>
              <a:t>Confusion matrices show how the predictions changed across the same held-out examples.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47088"/>
            <a:ext cx="6537960" cy="4251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onfusion_matr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3331" y="1965960"/>
            <a:ext cx="4828032" cy="395020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479792" y="1847088"/>
            <a:ext cx="4050791" cy="1847088"/>
          </a:xfrm>
          <a:prstGeom prst="roundRect">
            <a:avLst>
              <a:gd name="adj" fmla="val 12000"/>
            </a:avLst>
          </a:prstGeom>
          <a:solidFill>
            <a:srgbClr val="17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63256" y="2084831"/>
            <a:ext cx="3383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62D8CF"/>
                </a:solidFill>
                <a:latin typeface="Aptos"/>
              </a:rPr>
              <a:t>TEST ERRORS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63256" y="2432304"/>
            <a:ext cx="3273552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1" i="0">
                <a:solidFill>
                  <a:srgbClr val="FFFFFF"/>
                </a:solidFill>
                <a:latin typeface="Aptos Display"/>
              </a:rPr>
              <a:t>129  → 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63256" y="3054096"/>
            <a:ext cx="33375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7D4E4"/>
                </a:solidFill>
                <a:latin typeface="Aptos"/>
              </a:rPr>
              <a:t>From initial VGG-6 to fine-tuned VGG-16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79792" y="3931920"/>
            <a:ext cx="4050791" cy="2167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63256" y="4178808"/>
            <a:ext cx="334670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B7D79"/>
                </a:solidFill>
                <a:latin typeface="Aptos"/>
              </a:rPr>
              <a:t>BASELINE OVERFITTING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63256" y="4517136"/>
            <a:ext cx="3401568" cy="795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A2B42"/>
                </a:solidFill>
                <a:latin typeface="Aptos"/>
              </a:rPr>
              <a:t>Train accuracy reached 99.59%, while final validation accuracy was 86.17%.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63256" y="5458968"/>
            <a:ext cx="33832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Aptos"/>
              </a:rPr>
              <a:t>Dropout + augmentation helped VGG-6 generalize better.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66928" y="6473952"/>
            <a:ext cx="11064240" cy="0"/>
          </a:xfrm>
          <a:prstGeom prst="line">
            <a:avLst/>
          </a:prstGeom>
          <a:ln w="8890">
            <a:solidFill>
              <a:srgbClr val="D8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94360" y="6537960"/>
            <a:ext cx="77724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A1ADBC"/>
                </a:solidFill>
                <a:latin typeface="Aptos"/>
              </a:rPr>
              <a:t>UE24CS352A  •  MACHINE LEARNING MINI-PROJECT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45952" y="6519672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A1ADBC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20040"/>
            <a:ext cx="2286000" cy="292608"/>
          </a:xfrm>
          <a:prstGeom prst="roundRect">
            <a:avLst>
              <a:gd name="adj" fmla="val 12000"/>
            </a:avLst>
          </a:prstGeom>
          <a:solidFill>
            <a:srgbClr val="E1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52044"/>
            <a:ext cx="2139696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B7D79"/>
                </a:solidFill>
                <a:latin typeface="Aptos"/>
              </a:rPr>
              <a:t>08 / EXPLAINABILITY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10185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A2B42"/>
                </a:solidFill>
                <a:latin typeface="Aptos Display"/>
              </a:rPr>
              <a:t>Grad-CAM highlights image regions that influence a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109728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64748B"/>
                </a:solidFill>
                <a:latin typeface="Aptos"/>
              </a:rPr>
              <a:t>Applied to the final convolutional layer of VGG-16: features[29].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5349240" cy="2103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vgg16_dog_gradc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1" y="1965960"/>
            <a:ext cx="5056632" cy="14447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3547872"/>
            <a:ext cx="48006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0B7D79"/>
                </a:solidFill>
                <a:latin typeface="Aptos"/>
              </a:rPr>
              <a:t>DOG EXAMPLE  •  INPUT / HEATMAP / OVERLAY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828800"/>
            <a:ext cx="5349240" cy="2103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vgg16_correct_cat_gradc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792" y="1965960"/>
            <a:ext cx="5056632" cy="144475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46520" y="3547872"/>
            <a:ext cx="48006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0B7D79"/>
                </a:solidFill>
                <a:latin typeface="Aptos"/>
              </a:rPr>
              <a:t>CAT EXAMPLE  •  INPUT / HEATMAP / OVERLAY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4279392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  <a:latin typeface="Aptos"/>
              </a:rPr>
              <a:t>HOW IT WORKS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4663440"/>
            <a:ext cx="2542032" cy="749808"/>
          </a:xfrm>
          <a:prstGeom prst="roundRect">
            <a:avLst>
              <a:gd name="adj" fmla="val 12000"/>
            </a:avLst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50392" y="4846320"/>
            <a:ext cx="347472" cy="347472"/>
          </a:xfrm>
          <a:prstGeom prst="ellipse">
            <a:avLst/>
          </a:prstGeom>
          <a:solidFill>
            <a:srgbClr val="17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919472"/>
            <a:ext cx="347472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4800600"/>
            <a:ext cx="17830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70" b="1" i="0">
                <a:solidFill>
                  <a:srgbClr val="1A2B42"/>
                </a:solidFill>
                <a:latin typeface="Aptos"/>
              </a:rPr>
              <a:t>Capture feature maps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20439" y="4663440"/>
            <a:ext cx="2542032" cy="749808"/>
          </a:xfrm>
          <a:prstGeom prst="roundRect">
            <a:avLst>
              <a:gd name="adj" fmla="val 12000"/>
            </a:avLst>
          </a:prstGeom>
          <a:solidFill>
            <a:srgbClr val="E1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57599" y="4846320"/>
            <a:ext cx="347472" cy="347472"/>
          </a:xfrm>
          <a:prstGeom prst="ellipse">
            <a:avLst/>
          </a:prstGeom>
          <a:solidFill>
            <a:srgbClr val="0B7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599" y="4919472"/>
            <a:ext cx="347472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05655" y="4800600"/>
            <a:ext cx="17830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70" b="1" i="0">
                <a:solidFill>
                  <a:srgbClr val="1A2B42"/>
                </a:solidFill>
                <a:latin typeface="Aptos"/>
              </a:rPr>
              <a:t>Backpropagate class score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663440"/>
            <a:ext cx="2542032" cy="749808"/>
          </a:xfrm>
          <a:prstGeom prst="roundRect">
            <a:avLst>
              <a:gd name="adj" fmla="val 12000"/>
            </a:avLst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64808" y="4846320"/>
            <a:ext cx="347472" cy="347472"/>
          </a:xfrm>
          <a:prstGeom prst="ellipse">
            <a:avLst/>
          </a:prstGeom>
          <a:solidFill>
            <a:srgbClr val="17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4808" y="4919472"/>
            <a:ext cx="347472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12864" y="4800600"/>
            <a:ext cx="17830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70" b="1" i="0">
                <a:solidFill>
                  <a:srgbClr val="1A2B42"/>
                </a:solidFill>
                <a:latin typeface="Aptos"/>
              </a:rPr>
              <a:t>Weight channels by gradients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34855" y="4663440"/>
            <a:ext cx="2542032" cy="749808"/>
          </a:xfrm>
          <a:prstGeom prst="roundRect">
            <a:avLst>
              <a:gd name="adj" fmla="val 12000"/>
            </a:avLst>
          </a:prstGeom>
          <a:solidFill>
            <a:srgbClr val="E1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272015" y="4846320"/>
            <a:ext cx="347472" cy="347472"/>
          </a:xfrm>
          <a:prstGeom prst="ellipse">
            <a:avLst/>
          </a:prstGeom>
          <a:solidFill>
            <a:srgbClr val="0B7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72015" y="4919472"/>
            <a:ext cx="347472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20072" y="4800600"/>
            <a:ext cx="17830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70" b="1" i="0">
                <a:solidFill>
                  <a:srgbClr val="1A2B42"/>
                </a:solidFill>
                <a:latin typeface="Aptos"/>
              </a:rPr>
              <a:t>Apply ReLU, resize + normalize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3232" y="5669280"/>
            <a:ext cx="10808208" cy="475488"/>
          </a:xfrm>
          <a:prstGeom prst="roundRect">
            <a:avLst>
              <a:gd name="adj" fmla="val 12000"/>
            </a:avLst>
          </a:prstGeom>
          <a:solidFill>
            <a:srgbClr val="FF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797296"/>
            <a:ext cx="1037844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875520"/>
                </a:solidFill>
                <a:latin typeface="Aptos"/>
              </a:rPr>
              <a:t>Interpretation: a qualitative localization cue, not a segmentation mask or proof of causation.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66928" y="6473952"/>
            <a:ext cx="11064240" cy="0"/>
          </a:xfrm>
          <a:prstGeom prst="line">
            <a:avLst/>
          </a:prstGeom>
          <a:ln w="8890">
            <a:solidFill>
              <a:srgbClr val="D8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94360" y="6537960"/>
            <a:ext cx="77724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A1ADBC"/>
                </a:solidFill>
                <a:latin typeface="Aptos"/>
              </a:rPr>
              <a:t>UE24CS352A  •  MACHINE LEARNING MINI-PROJECT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45952" y="6519672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A1ADBC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20040"/>
            <a:ext cx="2377440" cy="292608"/>
          </a:xfrm>
          <a:prstGeom prst="roundRect">
            <a:avLst>
              <a:gd name="adj" fmla="val 12000"/>
            </a:avLst>
          </a:prstGeom>
          <a:solidFill>
            <a:srgbClr val="E1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52044"/>
            <a:ext cx="2231136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B7D79"/>
                </a:solidFill>
                <a:latin typeface="Aptos"/>
              </a:rPr>
              <a:t>09 / DEMO &amp;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10185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A2B42"/>
                </a:solidFill>
                <a:latin typeface="Aptos Display"/>
              </a:rPr>
              <a:t>A simple interface makes the model inspectable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109728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64748B"/>
                </a:solidFill>
                <a:latin typeface="Aptos"/>
              </a:rPr>
              <a:t>The Streamlit demo connects prediction, class probabilities and visual explanations.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56231"/>
            <a:ext cx="5486400" cy="4123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84831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  <a:latin typeface="Aptos"/>
              </a:rPr>
              <a:t>USER FLOW</a:t>
            </a:r>
          </a:p>
        </p:txBody>
      </p:sp>
      <p:sp>
        <p:nvSpPr>
          <p:cNvPr id="8" name="Oval 7"/>
          <p:cNvSpPr/>
          <p:nvPr/>
        </p:nvSpPr>
        <p:spPr>
          <a:xfrm>
            <a:off x="941832" y="2560320"/>
            <a:ext cx="393192" cy="393192"/>
          </a:xfrm>
          <a:prstGeom prst="ellipse">
            <a:avLst/>
          </a:prstGeom>
          <a:solidFill>
            <a:srgbClr val="14A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651760"/>
            <a:ext cx="393192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99616" y="2551176"/>
            <a:ext cx="3566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2B42"/>
                </a:solidFill>
                <a:latin typeface="Aptos"/>
              </a:rPr>
              <a:t>Upload image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99616" y="2852927"/>
            <a:ext cx="40965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Aptos"/>
              </a:rPr>
              <a:t>JPG / JPEG / PNG / WebP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33856" y="2971800"/>
            <a:ext cx="0" cy="292608"/>
          </a:xfrm>
          <a:prstGeom prst="line">
            <a:avLst/>
          </a:prstGeom>
          <a:ln w="20320">
            <a:solidFill>
              <a:srgbClr val="D8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941832" y="3310127"/>
            <a:ext cx="393192" cy="393192"/>
          </a:xfrm>
          <a:prstGeom prst="ellipse">
            <a:avLst/>
          </a:prstGeom>
          <a:solidFill>
            <a:srgbClr val="14A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3401568"/>
            <a:ext cx="393192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99616" y="3300984"/>
            <a:ext cx="3566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2B42"/>
                </a:solidFill>
                <a:latin typeface="Aptos"/>
              </a:rPr>
              <a:t>Run classifier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99616" y="3602735"/>
            <a:ext cx="40965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Aptos"/>
              </a:rPr>
              <a:t>Cat or dog + probability scores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133856" y="3721607"/>
            <a:ext cx="0" cy="292608"/>
          </a:xfrm>
          <a:prstGeom prst="line">
            <a:avLst/>
          </a:prstGeom>
          <a:ln w="20320">
            <a:solidFill>
              <a:srgbClr val="D8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941832" y="4059935"/>
            <a:ext cx="393192" cy="393192"/>
          </a:xfrm>
          <a:prstGeom prst="ellipse">
            <a:avLst/>
          </a:prstGeom>
          <a:solidFill>
            <a:srgbClr val="17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4151375"/>
            <a:ext cx="393192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99616" y="4050791"/>
            <a:ext cx="3566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2B42"/>
                </a:solidFill>
                <a:latin typeface="Aptos"/>
              </a:rPr>
              <a:t>Explain prediction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99616" y="4352544"/>
            <a:ext cx="40965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Aptos"/>
              </a:rPr>
              <a:t>Generate Grad-CAM heatmap + overlay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133856" y="4471416"/>
            <a:ext cx="0" cy="292607"/>
          </a:xfrm>
          <a:prstGeom prst="line">
            <a:avLst/>
          </a:prstGeom>
          <a:ln w="20320">
            <a:solidFill>
              <a:srgbClr val="D8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941832" y="4809744"/>
            <a:ext cx="393192" cy="393192"/>
          </a:xfrm>
          <a:prstGeom prst="ellipse">
            <a:avLst/>
          </a:prstGeom>
          <a:solidFill>
            <a:srgbClr val="14A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" y="4901183"/>
            <a:ext cx="393192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99616" y="4800600"/>
            <a:ext cx="3566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2B42"/>
                </a:solidFill>
                <a:latin typeface="Aptos"/>
              </a:rPr>
              <a:t>Export result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99616" y="5102352"/>
            <a:ext cx="40965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Aptos"/>
              </a:rPr>
              <a:t>Download overlay as PNG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82512" y="1856231"/>
            <a:ext cx="5138928" cy="4123944"/>
          </a:xfrm>
          <a:prstGeom prst="roundRect">
            <a:avLst>
              <a:gd name="adj" fmla="val 12000"/>
            </a:avLst>
          </a:prstGeom>
          <a:solidFill>
            <a:srgbClr val="17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65976" y="2084831"/>
            <a:ext cx="4526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62D8CF"/>
                </a:solidFill>
                <a:latin typeface="Aptos"/>
              </a:rPr>
              <a:t>PROJECT STRUCTURE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2532888"/>
            <a:ext cx="2148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62D8CF"/>
                </a:solidFill>
                <a:latin typeface="Aptos Mono"/>
              </a:rPr>
              <a:t>training.ipynb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96528" y="2532888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D2DCE8"/>
                </a:solidFill>
                <a:latin typeface="Aptos"/>
              </a:rPr>
              <a:t>Training, evaluation, visualizations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2971800"/>
            <a:ext cx="2148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62D8CF"/>
                </a:solidFill>
                <a:latin typeface="Aptos Mono"/>
              </a:rPr>
              <a:t>scripts/prepare_data.py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96528" y="2971800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D2DCE8"/>
                </a:solidFill>
                <a:latin typeface="Aptos"/>
              </a:rPr>
              <a:t>Image checks and split manifests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3410712"/>
            <a:ext cx="2148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62D8CF"/>
                </a:solidFill>
                <a:latin typeface="Aptos Mono"/>
              </a:rPr>
              <a:t>scripts/data.py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96528" y="3410712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D2DCE8"/>
                </a:solidFill>
                <a:latin typeface="Aptos"/>
              </a:rPr>
              <a:t>Transforms and data loaders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3849624"/>
            <a:ext cx="2148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62D8CF"/>
                </a:solidFill>
                <a:latin typeface="Aptos Mono"/>
              </a:rPr>
              <a:t>scripts/models.py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96528" y="3849624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D2DCE8"/>
                </a:solidFill>
                <a:latin typeface="Aptos"/>
              </a:rPr>
              <a:t>VGG-6 and VGG-16 definitions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4288536"/>
            <a:ext cx="2148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62D8CF"/>
                </a:solidFill>
                <a:latin typeface="Aptos Mono"/>
              </a:rPr>
              <a:t>scripts/explain.py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96528" y="4288536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D2DCE8"/>
                </a:solidFill>
                <a:latin typeface="Aptos"/>
              </a:rPr>
              <a:t>Binary Grad-CAM implementation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4727448"/>
            <a:ext cx="2148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62D8CF"/>
                </a:solidFill>
                <a:latin typeface="Aptos Mono"/>
              </a:rPr>
              <a:t>app.py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96528" y="4727448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D2DCE8"/>
                </a:solidFill>
                <a:latin typeface="Aptos"/>
              </a:rPr>
              <a:t>Streamlit prediction demo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04088" y="6108192"/>
            <a:ext cx="10817352" cy="228600"/>
          </a:xfrm>
          <a:prstGeom prst="roundRect">
            <a:avLst>
              <a:gd name="adj" fmla="val 12000"/>
            </a:avLst>
          </a:prstGeom>
          <a:solidFill>
            <a:srgbClr val="E1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9536" y="6135624"/>
            <a:ext cx="104790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0B7D79"/>
                </a:solidFill>
                <a:latin typeface="Aptos"/>
              </a:rPr>
              <a:t>Demo supports CPU fallback; a thread lock protects the shared model while Grad-CAM hooks are active.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66928" y="6473952"/>
            <a:ext cx="11064240" cy="0"/>
          </a:xfrm>
          <a:prstGeom prst="line">
            <a:avLst/>
          </a:prstGeom>
          <a:ln w="8890">
            <a:solidFill>
              <a:srgbClr val="D8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94360" y="6537960"/>
            <a:ext cx="77724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A1ADBC"/>
                </a:solidFill>
                <a:latin typeface="Aptos"/>
              </a:rPr>
              <a:t>UE24CS352A  •  MACHINE LEARNING MINI-PROJECT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45952" y="6519672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A1ADBC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20040"/>
            <a:ext cx="1920240" cy="292608"/>
          </a:xfrm>
          <a:prstGeom prst="roundRect">
            <a:avLst>
              <a:gd name="adj" fmla="val 12000"/>
            </a:avLst>
          </a:prstGeom>
          <a:solidFill>
            <a:srgbClr val="17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52044"/>
            <a:ext cx="1773936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62D8CF"/>
                </a:solidFill>
                <a:latin typeface="Aptos"/>
              </a:rPr>
              <a:t>10 /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10185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Aptos Display"/>
              </a:rPr>
              <a:t>Transfer learning made the biggest difference.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109728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B9C7D9"/>
                </a:solidFill>
                <a:latin typeface="Aptos"/>
              </a:rPr>
              <a:t>The strongest test score is an important comparison; validation-based selection keeps evaluation disciplined.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47088"/>
            <a:ext cx="5806440" cy="3429000"/>
          </a:xfrm>
          <a:prstGeom prst="roundRect">
            <a:avLst>
              <a:gd name="adj" fmla="val 12000"/>
            </a:avLst>
          </a:prstGeom>
          <a:solidFill>
            <a:srgbClr val="172A45"/>
          </a:solidFill>
          <a:ln w="10160">
            <a:solidFill>
              <a:srgbClr val="30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112264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62D8CF"/>
                </a:solidFill>
                <a:latin typeface="Aptos"/>
              </a:rPr>
              <a:t>KEY TAKEAWAYS</a:t>
            </a:r>
          </a:p>
        </p:txBody>
      </p:sp>
      <p:sp>
        <p:nvSpPr>
          <p:cNvPr id="8" name="Oval 7"/>
          <p:cNvSpPr/>
          <p:nvPr/>
        </p:nvSpPr>
        <p:spPr>
          <a:xfrm>
            <a:off x="969264" y="2697480"/>
            <a:ext cx="91440" cy="91440"/>
          </a:xfrm>
          <a:prstGeom prst="ellipse">
            <a:avLst/>
          </a:prstGeom>
          <a:solidFill>
            <a:srgbClr val="14A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2606040"/>
            <a:ext cx="482803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30" b="0" i="0">
                <a:solidFill>
                  <a:srgbClr val="FFFFFF"/>
                </a:solidFill>
                <a:latin typeface="Aptos"/>
              </a:rPr>
              <a:t>Regularization improved the scratch-trained VGG-6.</a:t>
            </a:r>
          </a:p>
        </p:txBody>
      </p:sp>
      <p:sp>
        <p:nvSpPr>
          <p:cNvPr id="10" name="Oval 9"/>
          <p:cNvSpPr/>
          <p:nvPr/>
        </p:nvSpPr>
        <p:spPr>
          <a:xfrm>
            <a:off x="969264" y="3264408"/>
            <a:ext cx="91440" cy="91440"/>
          </a:xfrm>
          <a:prstGeom prst="ellipse">
            <a:avLst/>
          </a:prstGeom>
          <a:solidFill>
            <a:srgbClr val="14A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3172968"/>
            <a:ext cx="482803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30" b="0" i="0">
                <a:solidFill>
                  <a:srgbClr val="FFFFFF"/>
                </a:solidFill>
                <a:latin typeface="Aptos"/>
              </a:rPr>
              <a:t>ImageNet-pretrained VGG-16 raised test accuracy to 98.70%.</a:t>
            </a:r>
          </a:p>
        </p:txBody>
      </p:sp>
      <p:sp>
        <p:nvSpPr>
          <p:cNvPr id="12" name="Oval 11"/>
          <p:cNvSpPr/>
          <p:nvPr/>
        </p:nvSpPr>
        <p:spPr>
          <a:xfrm>
            <a:off x="969264" y="3831335"/>
            <a:ext cx="91440" cy="91440"/>
          </a:xfrm>
          <a:prstGeom prst="ellipse">
            <a:avLst/>
          </a:prstGeom>
          <a:solidFill>
            <a:srgbClr val="14A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3739896"/>
            <a:ext cx="482803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30" b="0" i="0">
                <a:solidFill>
                  <a:srgbClr val="FFFFFF"/>
                </a:solidFill>
                <a:latin typeface="Aptos"/>
              </a:rPr>
              <a:t>Fine-tuning reached 99.50% on this test split.</a:t>
            </a:r>
          </a:p>
        </p:txBody>
      </p:sp>
      <p:sp>
        <p:nvSpPr>
          <p:cNvPr id="14" name="Oval 13"/>
          <p:cNvSpPr/>
          <p:nvPr/>
        </p:nvSpPr>
        <p:spPr>
          <a:xfrm>
            <a:off x="969264" y="4398264"/>
            <a:ext cx="91440" cy="91440"/>
          </a:xfrm>
          <a:prstGeom prst="ellipse">
            <a:avLst/>
          </a:prstGeom>
          <a:solidFill>
            <a:srgbClr val="14A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0432" y="4306824"/>
            <a:ext cx="482803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30" b="0" i="0">
                <a:solidFill>
                  <a:srgbClr val="FFFFFF"/>
                </a:solidFill>
                <a:latin typeface="Aptos"/>
              </a:rPr>
              <a:t>Grad-CAM adds a qualitative view into model decisions.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39128" y="1847088"/>
            <a:ext cx="4782312" cy="3429000"/>
          </a:xfrm>
          <a:prstGeom prst="roundRect">
            <a:avLst>
              <a:gd name="adj" fmla="val 12000"/>
            </a:avLst>
          </a:prstGeom>
          <a:solidFill>
            <a:srgbClr val="192A42"/>
          </a:solidFill>
          <a:ln w="10160">
            <a:solidFill>
              <a:srgbClr val="30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22592" y="2112264"/>
            <a:ext cx="4160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7BD7B"/>
                </a:solidFill>
                <a:latin typeface="Aptos"/>
              </a:rPr>
              <a:t>LIMITATIONS TO STATE</a:t>
            </a:r>
          </a:p>
        </p:txBody>
      </p:sp>
      <p:sp>
        <p:nvSpPr>
          <p:cNvPr id="18" name="Oval 17"/>
          <p:cNvSpPr/>
          <p:nvPr/>
        </p:nvSpPr>
        <p:spPr>
          <a:xfrm>
            <a:off x="7059168" y="2642616"/>
            <a:ext cx="91440" cy="91440"/>
          </a:xfrm>
          <a:prstGeom prst="ellipse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60336" y="2551176"/>
            <a:ext cx="386791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70" b="0" i="0">
                <a:solidFill>
                  <a:srgbClr val="D7E1ED"/>
                </a:solidFill>
                <a:latin typeface="Aptos"/>
              </a:rPr>
              <a:t>One random split / seed was evaluated.</a:t>
            </a:r>
          </a:p>
        </p:txBody>
      </p:sp>
      <p:sp>
        <p:nvSpPr>
          <p:cNvPr id="20" name="Oval 19"/>
          <p:cNvSpPr/>
          <p:nvPr/>
        </p:nvSpPr>
        <p:spPr>
          <a:xfrm>
            <a:off x="7059168" y="3127248"/>
            <a:ext cx="91440" cy="91440"/>
          </a:xfrm>
          <a:prstGeom prst="ellipse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60336" y="3035808"/>
            <a:ext cx="386791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70" b="0" i="0">
                <a:solidFill>
                  <a:srgbClr val="D7E1ED"/>
                </a:solidFill>
                <a:latin typeface="Aptos"/>
              </a:rPr>
              <a:t>Near-duplicate detection was not implemented.</a:t>
            </a:r>
          </a:p>
        </p:txBody>
      </p:sp>
      <p:sp>
        <p:nvSpPr>
          <p:cNvPr id="22" name="Oval 21"/>
          <p:cNvSpPr/>
          <p:nvPr/>
        </p:nvSpPr>
        <p:spPr>
          <a:xfrm>
            <a:off x="7059168" y="3611880"/>
            <a:ext cx="91440" cy="91440"/>
          </a:xfrm>
          <a:prstGeom prst="ellipse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0336" y="3520440"/>
            <a:ext cx="386791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70" b="0" i="0">
                <a:solidFill>
                  <a:srgbClr val="D7E1ED"/>
                </a:solidFill>
                <a:latin typeface="Aptos"/>
              </a:rPr>
              <a:t>External-dataset performance is untested.</a:t>
            </a:r>
          </a:p>
        </p:txBody>
      </p:sp>
      <p:sp>
        <p:nvSpPr>
          <p:cNvPr id="24" name="Oval 23"/>
          <p:cNvSpPr/>
          <p:nvPr/>
        </p:nvSpPr>
        <p:spPr>
          <a:xfrm>
            <a:off x="7059168" y="4096511"/>
            <a:ext cx="91440" cy="91440"/>
          </a:xfrm>
          <a:prstGeom prst="ellipse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60336" y="4005072"/>
            <a:ext cx="386791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70" b="0" i="0">
                <a:solidFill>
                  <a:srgbClr val="D7E1ED"/>
                </a:solidFill>
                <a:latin typeface="Aptos"/>
              </a:rPr>
              <a:t>Binary output always chooses cat or dog, even for unrelated images.</a:t>
            </a:r>
          </a:p>
        </p:txBody>
      </p:sp>
      <p:sp>
        <p:nvSpPr>
          <p:cNvPr id="26" name="Oval 25"/>
          <p:cNvSpPr/>
          <p:nvPr/>
        </p:nvSpPr>
        <p:spPr>
          <a:xfrm>
            <a:off x="7059168" y="4581144"/>
            <a:ext cx="91440" cy="91440"/>
          </a:xfrm>
          <a:prstGeom prst="ellipse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60336" y="4489704"/>
            <a:ext cx="386791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70" b="0" i="0">
                <a:solidFill>
                  <a:srgbClr val="D7E1ED"/>
                </a:solidFill>
                <a:latin typeface="Aptos"/>
              </a:rPr>
              <a:t>Probabilities are not calibrated confidence guarantees.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5559552"/>
            <a:ext cx="10698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62D8CF"/>
                </a:solidFill>
                <a:latin typeface="Aptos"/>
              </a:rPr>
              <a:t>SOURCE CODE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5815584"/>
            <a:ext cx="10698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ptos"/>
              </a:rPr>
              <a:t>github.com/Adarsh-031/household-animals-classification-using-deeplearning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6172200"/>
            <a:ext cx="10698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A7B7CA"/>
                </a:solidFill>
                <a:latin typeface="Aptos"/>
              </a:rPr>
              <a:t>References: Kaggle Dogs vs. Cats • Simonyan &amp; Zisserman (VGG, 2015) • Selvaraju et al. (Grad-CAM, 2017)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66928" y="6473952"/>
            <a:ext cx="11064240" cy="0"/>
          </a:xfrm>
          <a:prstGeom prst="line">
            <a:avLst/>
          </a:prstGeom>
          <a:ln w="8890">
            <a:solidFill>
              <a:srgbClr val="3042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94360" y="6537960"/>
            <a:ext cx="77724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51627B"/>
                </a:solidFill>
                <a:latin typeface="Aptos"/>
              </a:rPr>
              <a:t>UE24CS352A  •  MACHINE LEARNING MINI-PROJECT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45952" y="6519672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51627B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Household Animals Classification Using Deep Learning</dc:title>
  <dc:subject>UE24CS352A Machine Learning Mini-Project Presentation</dc:subject>
  <dc:creator>Anish A Kunder; Adarsha E</dc:creator>
  <cp:keywords>Machine Learning, CNN, VGG-6, VGG-16, Transfer Learning, Fine-tuning, Grad-CAM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